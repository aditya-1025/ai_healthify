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80085" y="652780"/>
            <a:ext cx="5415915" cy="5794375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 i="1"/>
              <a:t>Healthify: An AI-Powered Smart Healthcare System</a:t>
            </a:r>
            <a:endParaRPr sz="2800" b="1" i="1"/>
          </a:p>
          <a:p>
            <a:endParaRPr sz="1600"/>
          </a:p>
          <a:p>
            <a:r>
              <a:rPr sz="2400"/>
              <a:t>Mukesh Lomror</a:t>
            </a:r>
            <a:endParaRPr sz="2400"/>
          </a:p>
          <a:p>
            <a:r>
              <a:rPr sz="2400"/>
              <a:t> Aditya Kr. Gupta</a:t>
            </a:r>
            <a:endParaRPr sz="2400"/>
          </a:p>
          <a:p>
            <a:r>
              <a:rPr sz="2400"/>
              <a:t> Aditya Kanaujia</a:t>
            </a:r>
            <a:endParaRPr sz="2400"/>
          </a:p>
          <a:p>
            <a:r>
              <a:rPr sz="2400"/>
              <a:t> Aditya Sharma</a:t>
            </a:r>
            <a:endParaRPr sz="2400"/>
          </a:p>
          <a:p>
            <a:r>
              <a:rPr sz="2400"/>
              <a:t> Aditya Jaiswal</a:t>
            </a:r>
            <a:endParaRPr sz="2400"/>
          </a:p>
          <a:p>
            <a:r>
              <a:rPr sz="2400"/>
              <a:t> Richa Singh</a:t>
            </a:r>
            <a:endParaRPr sz="2400"/>
          </a:p>
          <a:p>
            <a:endParaRPr sz="1600"/>
          </a:p>
          <a:p>
            <a:endParaRPr sz="1600"/>
          </a:p>
          <a:p>
            <a:r>
              <a:rPr sz="2800" b="1" i="1"/>
              <a:t>CSE (AI)</a:t>
            </a:r>
            <a:endParaRPr sz="2800" b="1" i="1"/>
          </a:p>
          <a:p>
            <a:r>
              <a:rPr sz="2800" b="1" i="1"/>
              <a:t> KIET Group of Institutions, Ghaziabad</a:t>
            </a:r>
            <a:endParaRPr sz="2800" b="1" i="1"/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4907915" y="1333500"/>
            <a:ext cx="6459220" cy="3709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83920" y="804545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sz="2800" b="1" i="1"/>
              <a:t>Objectives</a:t>
            </a:r>
            <a:endParaRPr sz="2800"/>
          </a:p>
        </p:txBody>
      </p:sp>
      <p:pic>
        <p:nvPicPr>
          <p:cNvPr id="356101649" name="draw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950" y="372745"/>
            <a:ext cx="9004300" cy="41186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83920" y="4087495"/>
            <a:ext cx="8143875" cy="1598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None/>
            </a:pPr>
            <a:r>
              <a:rPr sz="2800">
                <a:sym typeface="+mn-ea"/>
              </a:rPr>
              <a:t>Improve healthcare accessibility</a:t>
            </a:r>
            <a:endParaRPr sz="2800"/>
          </a:p>
          <a:p>
            <a:pPr indent="0">
              <a:buNone/>
            </a:pPr>
            <a:r>
              <a:rPr sz="2800">
                <a:sym typeface="+mn-ea"/>
              </a:rPr>
              <a:t>Reduce doctor workload</a:t>
            </a:r>
            <a:endParaRPr sz="2800"/>
          </a:p>
          <a:p>
            <a:pPr indent="0">
              <a:buNone/>
            </a:pPr>
            <a:r>
              <a:rPr sz="2800">
                <a:sym typeface="+mn-ea"/>
              </a:rPr>
              <a:t>Provide smart medical assistance</a:t>
            </a:r>
            <a:endParaRPr sz="2800"/>
          </a:p>
          <a:p>
            <a:pPr indent="0">
              <a:buNone/>
            </a:pPr>
            <a:r>
              <a:rPr sz="2800">
                <a:sym typeface="+mn-ea"/>
              </a:rPr>
              <a:t>Automate appointment booking</a:t>
            </a:r>
            <a:endParaRPr sz="2800"/>
          </a:p>
          <a:p>
            <a:pPr indent="0">
              <a:buNone/>
            </a:pPr>
            <a:r>
              <a:rPr sz="2800">
                <a:sym typeface="+mn-ea"/>
              </a:rPr>
              <a:t>Improve patient engagement</a:t>
            </a:r>
            <a:endParaRPr lang="en-US" sz="28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16000" y="811213"/>
            <a:ext cx="5080000" cy="3538220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sz="2800" b="1" i="1"/>
              <a:t>Key Features</a:t>
            </a:r>
            <a:endParaRPr sz="2800" b="1" i="1"/>
          </a:p>
          <a:p>
            <a:pPr algn="l">
              <a:buClrTx/>
              <a:buSzTx/>
              <a:buFontTx/>
            </a:pPr>
            <a:endParaRPr sz="2800" b="1" i="1"/>
          </a:p>
          <a:p>
            <a:pPr algn="l">
              <a:buClrTx/>
              <a:buSzTx/>
              <a:buFontTx/>
            </a:pPr>
            <a:r>
              <a:rPr sz="2800" b="1"/>
              <a:t>AI Chatbot</a:t>
            </a:r>
            <a:endParaRPr sz="2800" b="1"/>
          </a:p>
          <a:p>
            <a:pPr algn="l">
              <a:buClrTx/>
              <a:buSzTx/>
              <a:buFontTx/>
            </a:pPr>
            <a:r>
              <a:rPr sz="2800"/>
              <a:t> Provides symptom-based consultation.</a:t>
            </a:r>
            <a:endParaRPr sz="2800"/>
          </a:p>
          <a:p>
            <a:pPr algn="l">
              <a:buClrTx/>
              <a:buSzTx/>
              <a:buFontTx/>
            </a:pPr>
            <a:r>
              <a:rPr sz="2800" b="1"/>
              <a:t>Medicine Reminder</a:t>
            </a:r>
            <a:endParaRPr sz="2800" b="1"/>
          </a:p>
          <a:p>
            <a:pPr algn="l">
              <a:buClrTx/>
              <a:buSzTx/>
              <a:buFontTx/>
            </a:pPr>
            <a:r>
              <a:rPr sz="2800"/>
              <a:t> Sends reminders for medicines.</a:t>
            </a:r>
            <a:endParaRPr sz="2800"/>
          </a:p>
          <a:p>
            <a:pPr algn="l">
              <a:buClrTx/>
              <a:buSzTx/>
              <a:buFontTx/>
            </a:pPr>
            <a:endParaRPr sz="2800"/>
          </a:p>
        </p:txBody>
      </p:sp>
      <p:sp>
        <p:nvSpPr>
          <p:cNvPr id="3" name="Text Box 2"/>
          <p:cNvSpPr txBox="1"/>
          <p:nvPr/>
        </p:nvSpPr>
        <p:spPr>
          <a:xfrm>
            <a:off x="5502275" y="4176395"/>
            <a:ext cx="6096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sz="2800" b="1">
                <a:sym typeface="+mn-ea"/>
              </a:rPr>
              <a:t>Appointment Scheduling</a:t>
            </a:r>
            <a:endParaRPr sz="2800" b="1"/>
          </a:p>
          <a:p>
            <a:pPr algn="l">
              <a:buClrTx/>
              <a:buSzTx/>
              <a:buFontTx/>
            </a:pPr>
            <a:r>
              <a:rPr sz="2800">
                <a:sym typeface="+mn-ea"/>
              </a:rPr>
              <a:t> Easy doctor appointment booking.</a:t>
            </a:r>
            <a:endParaRPr sz="2800"/>
          </a:p>
          <a:p>
            <a:pPr algn="l">
              <a:buClrTx/>
              <a:buSzTx/>
              <a:buFontTx/>
            </a:pPr>
            <a:r>
              <a:rPr sz="2800" b="1">
                <a:sym typeface="+mn-ea"/>
              </a:rPr>
              <a:t>Medical Report Generator</a:t>
            </a:r>
            <a:endParaRPr sz="2800" b="1"/>
          </a:p>
          <a:p>
            <a:pPr algn="l">
              <a:buClrTx/>
              <a:buSzTx/>
              <a:buFontTx/>
            </a:pPr>
            <a:r>
              <a:rPr sz="2800">
                <a:sym typeface="+mn-ea"/>
              </a:rPr>
              <a:t> Creates structured medical summaries.</a:t>
            </a:r>
            <a:endParaRPr lang="en-US" sz="28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16000" y="483870"/>
            <a:ext cx="5080000" cy="3538220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sz="2800" b="1" i="1"/>
              <a:t>Technologies Used</a:t>
            </a:r>
            <a:endParaRPr sz="2800" b="1" i="1"/>
          </a:p>
          <a:p>
            <a:pPr algn="l">
              <a:buClrTx/>
              <a:buSzTx/>
              <a:buFontTx/>
            </a:pPr>
            <a:endParaRPr sz="2800" b="1" i="1"/>
          </a:p>
          <a:p>
            <a:pPr algn="l">
              <a:buClrTx/>
              <a:buSzTx/>
              <a:buFontTx/>
            </a:pPr>
            <a:r>
              <a:rPr sz="2800" b="1"/>
              <a:t>Frontend: </a:t>
            </a:r>
            <a:r>
              <a:rPr sz="2800"/>
              <a:t>React.js</a:t>
            </a:r>
            <a:endParaRPr sz="2800"/>
          </a:p>
          <a:p>
            <a:pPr algn="l">
              <a:buClrTx/>
              <a:buSzTx/>
              <a:buFontTx/>
            </a:pPr>
            <a:r>
              <a:rPr sz="2800" b="1"/>
              <a:t>Backend:</a:t>
            </a:r>
            <a:r>
              <a:rPr sz="2800"/>
              <a:t> Node.js, Express.js</a:t>
            </a:r>
            <a:endParaRPr sz="2800"/>
          </a:p>
          <a:p>
            <a:pPr algn="l">
              <a:buClrTx/>
              <a:buSzTx/>
              <a:buFontTx/>
            </a:pPr>
            <a:r>
              <a:rPr sz="2800" b="1"/>
              <a:t>Database:</a:t>
            </a:r>
            <a:r>
              <a:rPr sz="2800"/>
              <a:t> MongoDB</a:t>
            </a:r>
            <a:endParaRPr sz="2800"/>
          </a:p>
          <a:p>
            <a:pPr algn="l">
              <a:buClrTx/>
              <a:buSzTx/>
              <a:buFontTx/>
            </a:pPr>
            <a:r>
              <a:rPr sz="2800" b="1"/>
              <a:t>AI Services: </a:t>
            </a:r>
            <a:r>
              <a:rPr sz="2800"/>
              <a:t>Python, Flask / FastAPI</a:t>
            </a:r>
            <a:endParaRPr sz="2800"/>
          </a:p>
          <a:p>
            <a:pPr algn="l">
              <a:buClrTx/>
              <a:buSzTx/>
              <a:buFontTx/>
            </a:pPr>
            <a:endParaRPr sz="2800"/>
          </a:p>
        </p:txBody>
      </p:sp>
      <p:sp>
        <p:nvSpPr>
          <p:cNvPr id="3" name="Text Box 2"/>
          <p:cNvSpPr txBox="1"/>
          <p:nvPr/>
        </p:nvSpPr>
        <p:spPr>
          <a:xfrm>
            <a:off x="4878705" y="3877310"/>
            <a:ext cx="6096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sz="2800" b="1">
                <a:sym typeface="+mn-ea"/>
              </a:rPr>
              <a:t>Security:</a:t>
            </a:r>
            <a:r>
              <a:rPr sz="2800">
                <a:sym typeface="+mn-ea"/>
              </a:rPr>
              <a:t> JWT Authentication, AES Encryption</a:t>
            </a:r>
            <a:endParaRPr sz="2800"/>
          </a:p>
          <a:p>
            <a:pPr algn="l">
              <a:buClrTx/>
              <a:buSzTx/>
              <a:buFontTx/>
            </a:pPr>
            <a:r>
              <a:rPr sz="2800" b="1">
                <a:sym typeface="+mn-ea"/>
              </a:rPr>
              <a:t>Architecture:</a:t>
            </a:r>
            <a:r>
              <a:rPr sz="2800">
                <a:sym typeface="+mn-ea"/>
              </a:rPr>
              <a:t> MERN Stack + AI Microservices</a:t>
            </a:r>
            <a:endParaRPr lang="en-US" sz="2800">
              <a:sym typeface="+mn-ea"/>
            </a:endParaRPr>
          </a:p>
        </p:txBody>
      </p:sp>
      <p:pic>
        <p:nvPicPr>
          <p:cNvPr id="1629134358" name="draw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40" y="483870"/>
            <a:ext cx="6490970" cy="2945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94080" y="665480"/>
            <a:ext cx="5080000" cy="5262245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sz="2800" b="1" i="1"/>
              <a:t>System Architecture</a:t>
            </a:r>
            <a:endParaRPr sz="2800" b="1" i="1"/>
          </a:p>
          <a:p>
            <a:pPr algn="l">
              <a:buClrTx/>
              <a:buSzTx/>
              <a:buFontTx/>
            </a:pPr>
            <a:endParaRPr sz="2800" b="1" i="1"/>
          </a:p>
          <a:p>
            <a:pPr algn="l">
              <a:buClrTx/>
              <a:buSzTx/>
              <a:buFontTx/>
            </a:pPr>
            <a:r>
              <a:rPr sz="2800" b="1"/>
              <a:t>Healthify uses 4 layers</a:t>
            </a:r>
            <a:r>
              <a:rPr lang="en-IN" sz="2800" b="1"/>
              <a:t>:</a:t>
            </a:r>
            <a:endParaRPr lang="en-IN" sz="2800" b="1"/>
          </a:p>
          <a:p>
            <a:pPr algn="l">
              <a:buClrTx/>
              <a:buSzTx/>
              <a:buFontTx/>
            </a:pP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Presentation Layer – User Interface (React)</a:t>
            </a: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Application Layer – Backend APIs (Node.js)</a:t>
            </a: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Processing Layer – AI Models (Python Microservices)</a:t>
            </a: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Data Layer – MongoDB database</a:t>
            </a:r>
            <a:endParaRPr sz="2800"/>
          </a:p>
        </p:txBody>
      </p:sp>
      <p:pic>
        <p:nvPicPr>
          <p:cNvPr id="1979164815" name="draw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890" y="1405890"/>
            <a:ext cx="5702300" cy="378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240155" y="881062"/>
            <a:ext cx="5080000" cy="4892675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endParaRPr sz="2800" b="1" i="1"/>
          </a:p>
          <a:p>
            <a:pPr indent="0" algn="l">
              <a:buClrTx/>
              <a:buSzTx/>
              <a:buFontTx/>
              <a:buNone/>
            </a:pPr>
            <a:endParaRPr sz="2800" b="1"/>
          </a:p>
          <a:p>
            <a:pPr indent="0" algn="l">
              <a:buClrTx/>
              <a:buSzTx/>
              <a:buFontTx/>
              <a:buNone/>
            </a:pPr>
            <a:r>
              <a:rPr sz="2800" b="1"/>
              <a:t>Built using Microservices Architecture</a:t>
            </a:r>
            <a:r>
              <a:rPr lang="en-IN" sz="2800" b="1"/>
              <a:t> </a:t>
            </a:r>
            <a:r>
              <a:rPr sz="2800" b="1"/>
              <a:t>Components:</a:t>
            </a:r>
            <a:endParaRPr sz="2800" b="1"/>
          </a:p>
          <a:p>
            <a:pPr marL="514350" indent="-514350" algn="l">
              <a:buClrTx/>
              <a:buSzTx/>
              <a:buFontTx/>
              <a:buAutoNum type="arabicPeriod"/>
            </a:pP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Chatbot Service</a:t>
            </a: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Appointment Scheduler</a:t>
            </a: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endParaRPr sz="2800"/>
          </a:p>
          <a:p>
            <a:pPr marL="514350" indent="-514350" algn="l">
              <a:buClrTx/>
              <a:buSzTx/>
              <a:buFontTx/>
              <a:buAutoNum type="arabicPeriod"/>
            </a:pPr>
            <a:r>
              <a:rPr sz="2800"/>
              <a:t>Medicine Reminder System</a:t>
            </a:r>
            <a:endParaRPr sz="28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6174740" y="1805940"/>
            <a:ext cx="60960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/>
              <a:buNone/>
            </a:pPr>
            <a:r>
              <a:rPr sz="2800" b="1">
                <a:sym typeface="+mn-ea"/>
              </a:rPr>
              <a:t>Medical Report Generator</a:t>
            </a:r>
            <a:endParaRPr sz="2800" b="1"/>
          </a:p>
          <a:p>
            <a:r>
              <a:rPr sz="2800" b="1">
                <a:sym typeface="+mn-ea"/>
              </a:rPr>
              <a:t>Results:</a:t>
            </a:r>
            <a:endParaRPr sz="2800" b="1"/>
          </a:p>
          <a:p>
            <a:endParaRPr sz="2800"/>
          </a:p>
          <a:p>
            <a:pPr>
              <a:buFont typeface="Arial" panose="020B0604020202020204"/>
              <a:buChar char="•"/>
            </a:pPr>
            <a:r>
              <a:rPr sz="2400">
                <a:sym typeface="+mn-ea"/>
              </a:rPr>
              <a:t>Chatbot Accuracy: 94.6%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>
              <a:buFont typeface="Arial" panose="020B0604020202020204"/>
              <a:buChar char="•"/>
            </a:pPr>
            <a:r>
              <a:rPr sz="2400">
                <a:sym typeface="+mn-ea"/>
              </a:rPr>
              <a:t>Reminder Accuracy: 96.3%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>
              <a:buFont typeface="Arial" panose="020B0604020202020204"/>
              <a:buChar char="•"/>
            </a:pPr>
            <a:r>
              <a:rPr sz="2400">
                <a:sym typeface="+mn-ea"/>
              </a:rPr>
              <a:t>Response Time: &lt;700 ms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>
              <a:buFont typeface="Arial" panose="020B0604020202020204"/>
              <a:buChar char="•"/>
            </a:pPr>
            <a:r>
              <a:rPr sz="2400">
                <a:sym typeface="+mn-ea"/>
              </a:rPr>
              <a:t>System Uptime: 99%</a:t>
            </a:r>
            <a:endParaRPr lang="en-US" sz="2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48000" y="47625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sz="2800" b="1" i="1">
                <a:sym typeface="+mn-ea"/>
              </a:rPr>
              <a:t>Implementation &amp; Results</a:t>
            </a:r>
            <a:endParaRPr lang="en-US" sz="2800" b="1" i="1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17525" y="2148522"/>
            <a:ext cx="5080000" cy="4338320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sz="2800" b="1"/>
              <a:t>Healthify improves healthcare through AI automation.</a:t>
            </a:r>
            <a:endParaRPr sz="2800" b="1"/>
          </a:p>
          <a:p>
            <a:pPr algn="l">
              <a:buClrTx/>
              <a:buSzTx/>
              <a:buFontTx/>
            </a:pPr>
            <a:r>
              <a:rPr sz="2800" b="1"/>
              <a:t>Benefits:</a:t>
            </a:r>
            <a:endParaRPr sz="2800" b="1"/>
          </a:p>
          <a:p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Faster consultation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Automated scheduling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Better medicine adherence</a:t>
            </a:r>
            <a:endParaRPr sz="2400"/>
          </a:p>
          <a:p>
            <a:pPr>
              <a:buFont typeface="Arial" panose="020B0604020202020204"/>
              <a:buChar char="•"/>
            </a:pP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5701030" y="2148205"/>
            <a:ext cx="6096000" cy="3907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sz="2800" b="1">
                <a:sym typeface="+mn-ea"/>
              </a:rPr>
              <a:t>Secure patient data</a:t>
            </a:r>
            <a:endParaRPr sz="2800" b="1"/>
          </a:p>
          <a:p>
            <a:pPr indent="0">
              <a:buNone/>
            </a:pPr>
            <a:r>
              <a:rPr sz="2800" b="1">
                <a:sym typeface="+mn-ea"/>
              </a:rPr>
              <a:t>Future improvements:</a:t>
            </a:r>
            <a:endParaRPr sz="2800" b="1"/>
          </a:p>
          <a:p>
            <a:pPr indent="0">
              <a:buNone/>
            </a:pPr>
            <a:endParaRPr sz="2400">
              <a:sym typeface="+mn-ea"/>
            </a:endParaRPr>
          </a:p>
          <a:p>
            <a:pPr indent="0">
              <a:buNone/>
            </a:pPr>
            <a:r>
              <a:rPr sz="2400">
                <a:sym typeface="+mn-ea"/>
              </a:rPr>
              <a:t>Federated learning</a:t>
            </a:r>
            <a:endParaRPr sz="2400"/>
          </a:p>
          <a:p>
            <a:pPr indent="0">
              <a:buNone/>
            </a:pPr>
            <a:endParaRPr sz="2400"/>
          </a:p>
          <a:p>
            <a:pPr indent="0">
              <a:buNone/>
            </a:pPr>
            <a:r>
              <a:rPr sz="2400">
                <a:sym typeface="+mn-ea"/>
              </a:rPr>
              <a:t>Edge AI</a:t>
            </a:r>
            <a:endParaRPr sz="2400"/>
          </a:p>
          <a:p>
            <a:pPr indent="0">
              <a:buNone/>
            </a:pPr>
            <a:endParaRPr sz="2400"/>
          </a:p>
          <a:p>
            <a:pPr indent="0">
              <a:buNone/>
            </a:pPr>
            <a:r>
              <a:rPr sz="2400">
                <a:sym typeface="+mn-ea"/>
              </a:rPr>
              <a:t>Integration with national digital health systems</a:t>
            </a:r>
            <a:endParaRPr sz="2400"/>
          </a:p>
          <a:p>
            <a:pPr indent="0">
              <a:buNone/>
            </a:pPr>
            <a:endParaRPr sz="2400"/>
          </a:p>
          <a:p>
            <a:pPr indent="0">
              <a:buNone/>
            </a:pPr>
            <a:r>
              <a:rPr sz="2400">
                <a:sym typeface="+mn-ea"/>
              </a:rPr>
              <a:t>Advanced diagnosis modules</a:t>
            </a:r>
            <a:endParaRPr lang="en-US" sz="2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235960" y="4368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sz="2800" b="1" i="1">
                <a:sym typeface="+mn-ea"/>
              </a:rPr>
              <a:t>Conclusion &amp; Future Work</a:t>
            </a:r>
            <a:endParaRPr lang="en-US" sz="2800" b="1" i="1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0900" y="3056890"/>
            <a:ext cx="5409565" cy="1325880"/>
          </a:xfrm>
        </p:spPr>
        <p:txBody>
          <a:bodyPr/>
          <a:p>
            <a:r>
              <a:rPr lang="en-IN" altLang="en-US" sz="8000" b="1" i="1"/>
              <a:t>THANK YOU</a:t>
            </a:r>
            <a:endParaRPr lang="en-IN" altLang="en-US" sz="8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WPS Presentation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Aditya Sharma</dc:creator>
  <cp:lastModifiedBy>ADITYA KIET</cp:lastModifiedBy>
  <cp:revision>7</cp:revision>
  <dcterms:created xsi:type="dcterms:W3CDTF">2025-07-23T00:59:00Z</dcterms:created>
  <dcterms:modified xsi:type="dcterms:W3CDTF">2026-03-11T08:10:50Z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